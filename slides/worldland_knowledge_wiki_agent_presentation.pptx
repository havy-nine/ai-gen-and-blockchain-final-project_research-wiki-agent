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79" y="548640"/>
            <a:ext cx="4297680" cy="1645920"/>
          </a:xfrm>
          <a:prstGeom prst="roundRect">
            <a:avLst/>
          </a:prstGeom>
          <a:solidFill>
            <a:srgbClr val="08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0" y="4480560"/>
            <a:ext cx="4846320" cy="9144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5303520"/>
            <a:ext cx="3840480" cy="50292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417320" cy="292608"/>
          </a:xfrm>
          <a:prstGeom prst="roundRect">
            <a:avLst/>
          </a:prstGeom>
          <a:solidFill>
            <a:srgbClr val="082F49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000" b="1">
                <a:solidFill>
                  <a:srgbClr val="38BDF8"/>
                </a:solidFill>
                <a:latin typeface="Noto Sans CJK KR"/>
              </a:rPr>
              <a:t>Blockchain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12848" y="658368"/>
            <a:ext cx="1508760" cy="292608"/>
          </a:xfrm>
          <a:prstGeom prst="roundRect">
            <a:avLst/>
          </a:prstGeom>
          <a:solidFill>
            <a:srgbClr val="452E05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000" b="1">
                <a:solidFill>
                  <a:srgbClr val="FBBF24"/>
                </a:solidFill>
                <a:latin typeface="Noto Sans CJK KR"/>
              </a:rPr>
              <a:t>Mock Demo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498079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92000"/>
              </a:lnSpc>
            </a:pPr>
            <a:r>
              <a:rPr sz="4300" b="1">
                <a:solidFill>
                  <a:srgbClr val="FFFFFF"/>
                </a:solidFill>
                <a:latin typeface="Noto Sans CJK KR"/>
              </a:rPr>
              <a:t>WorldLand
Knowledge Wiki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99232"/>
            <a:ext cx="67665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8BDF8"/>
                </a:solidFill>
                <a:latin typeface="Noto Sans CJK KR"/>
              </a:rPr>
              <a:t>출처 검증 기반 논문 지식 그래프와
Blockchain Certificate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715000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Noto Sans CJK KR"/>
              </a:rPr>
              <a:t>Cheon Seungyeon · Final Project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057400"/>
            <a:ext cx="3794760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240280"/>
            <a:ext cx="33832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8BDF8"/>
                </a:solidFill>
                <a:latin typeface="Noto Sans CJK KR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615184"/>
            <a:ext cx="32004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CJK KR"/>
              </a:rPr>
              <a:t>블록체인은 위키 저장소가 아니라
검증 통과 페이지의 인증서 레지스트리입니다.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70332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Noto Sans CJK KR"/>
              </a:rPr>
              <a:t>PASS → certificate
FAIL → local-only / SKIP_CHAIN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문제 정의: LLM Wiki는 유용하지만 위험합니다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LLM-generated knowledge bases need publication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24612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7171"/>
                </a:solidFill>
                <a:latin typeface="Noto Sans CJK KR"/>
              </a:rPr>
              <a:t>Hallucination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Noto Sans CJK KR"/>
              </a:rPr>
              <a:t>근거 없는 claim이 위키에 들어가면 노이즈/오정보가 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4612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19072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BBF24"/>
                </a:solidFill>
                <a:latin typeface="Noto Sans CJK KR"/>
              </a:rPr>
              <a:t>Passive hash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402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Noto Sans CJK KR"/>
              </a:rPr>
              <a:t>단순 page hash 기록은 로컬 로그와 차별성이 약합니다.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24612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19072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Noto Sans CJK KR"/>
              </a:rPr>
              <a:t>Need a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2E8F0"/>
                </a:solidFill>
                <a:latin typeface="Noto Sans CJK KR"/>
              </a:rPr>
              <a:t>검증된 page만 발행되어야 지식 품질과 보안이 함께 올라갑니다.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43400"/>
            <a:ext cx="10561320" cy="114300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996696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Noto Sans CJK KR"/>
              </a:rPr>
              <a:t>Design question: </a:t>
            </a:r>
            <a:r>
              <a:rPr sz="2200" b="1">
                <a:solidFill>
                  <a:srgbClr val="FFFFFF"/>
                </a:solidFill>
                <a:latin typeface="Noto Sans CJK KR"/>
              </a:rPr>
              <a:t>“WorldLand에 기록이 있다는 사실이 무엇을 증명하는가?”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10912"/>
            <a:ext cx="9966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E2E8F0"/>
                </a:solidFill>
                <a:latin typeface="Noto Sans CJK KR"/>
              </a:rPr>
              <a:t>답: 이 page hash는 EvalAgent의 source-grounded verification을 통과한 certificate이다.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교수님 피드백 반영: Hash Logger → Certificate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The blockchain role changed from recording to gating.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7548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BBF24"/>
                </a:solidFill>
                <a:latin typeface="Noto Sans CJK KR"/>
              </a:rPr>
              <a:t>Before: Passive Hash Logger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114800" cy="1645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600">
                <a:solidFill>
                  <a:srgbClr val="E2E8F0"/>
                </a:solidFill>
                <a:latin typeface="Noto Sans CJK KR"/>
              </a:defRPr>
            </a:pPr>
            <a:r>
              <a:t>위키 page 생성 후 page_hash 기록</a:t>
            </a:r>
          </a:p>
          <a:p>
            <a:pPr>
              <a:buChar char="•"/>
              <a:spcAft>
                <a:spcPts val="600"/>
              </a:spcAft>
              <a:defRPr sz="1600">
                <a:solidFill>
                  <a:srgbClr val="E2E8F0"/>
                </a:solidFill>
                <a:latin typeface="Noto Sans CJK KR"/>
              </a:defRPr>
            </a:pPr>
            <a:r>
              <a:t>hash + timestamp + agent name</a:t>
            </a:r>
          </a:p>
          <a:p>
            <a:pPr>
              <a:buChar char="•"/>
              <a:spcAft>
                <a:spcPts val="600"/>
              </a:spcAft>
              <a:defRPr sz="1600">
                <a:solidFill>
                  <a:srgbClr val="E2E8F0"/>
                </a:solidFill>
                <a:latin typeface="Noto Sans CJK KR"/>
              </a:defRPr>
            </a:pPr>
            <a:r>
              <a:t>문제: 로컬 로그와 본질적 차이가 약함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87171"/>
                </a:solidFill>
                <a:latin typeface="Noto Sans CJK KR"/>
              </a:rPr>
              <a:t>Local log와 비슷한 수준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08760"/>
            <a:ext cx="47548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830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4ADE80"/>
                </a:solidFill>
                <a:latin typeface="Noto Sans CJK KR"/>
              </a:rPr>
              <a:t>After: Publication Certificate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31720"/>
            <a:ext cx="4114800" cy="1645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600">
                <a:solidFill>
                  <a:srgbClr val="E2E8F0"/>
                </a:solidFill>
                <a:latin typeface="Noto Sans CJK KR"/>
              </a:defRPr>
            </a:pPr>
            <a:r>
              <a:t>EvalAgent가 claim groundedness 검증</a:t>
            </a:r>
          </a:p>
          <a:p>
            <a:pPr>
              <a:buChar char="•"/>
              <a:spcAft>
                <a:spcPts val="600"/>
              </a:spcAft>
              <a:defRPr sz="1600">
                <a:solidFill>
                  <a:srgbClr val="E2E8F0"/>
                </a:solidFill>
                <a:latin typeface="Noto Sans CJK KR"/>
              </a:defRPr>
            </a:pPr>
            <a:r>
              <a:t>score_bps ≥ threshold_bps일 때만 certify</a:t>
            </a:r>
          </a:p>
          <a:p>
            <a:pPr>
              <a:buChar char="•"/>
              <a:spcAft>
                <a:spcPts val="600"/>
              </a:spcAft>
              <a:defRPr sz="1600">
                <a:solidFill>
                  <a:srgbClr val="E2E8F0"/>
                </a:solidFill>
                <a:latin typeface="Noto Sans CJK KR"/>
              </a:defRPr>
            </a:pPr>
            <a:r>
              <a:t>FAIL은 SKIP_CHAIN, tx_hash=None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34340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Noto Sans CJK KR"/>
              </a:rPr>
              <a:t>온체인 기록 = 검증 통과 인증서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23560" y="3063240"/>
            <a:ext cx="82296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0832" y="5468112"/>
            <a:ext cx="3383280" cy="292608"/>
          </a:xfrm>
          <a:prstGeom prst="roundRect">
            <a:avLst/>
          </a:prstGeom>
          <a:solidFill>
            <a:srgbClr val="082F49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000" b="1">
                <a:solidFill>
                  <a:srgbClr val="38BDF8"/>
                </a:solidFill>
                <a:latin typeface="Noto Sans CJK KR"/>
              </a:rPr>
              <a:t>Professor feedback implemented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전체 Agentic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Goal → Input → Tools → Check → Record → Human Review →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6002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73351"/>
            <a:ext cx="1453896" cy="594359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PDF/MD/TXT
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508760"/>
            <a:ext cx="132588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1673351"/>
            <a:ext cx="1179576" cy="594359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Chunker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16002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673351"/>
            <a:ext cx="1453896" cy="594359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WikiCurator
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169164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673351"/>
            <a:ext cx="1545336" cy="594359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EvalAgent
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169164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673351"/>
            <a:ext cx="1545336" cy="594359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Policy Gate
score ≥ 7800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7712" y="1897379"/>
            <a:ext cx="173736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13632" y="1897379"/>
            <a:ext cx="173736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33872" y="1897379"/>
            <a:ext cx="173736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45552" y="1897379"/>
            <a:ext cx="219456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35240" y="3246120"/>
            <a:ext cx="1920240" cy="96012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410712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Noto Sans CJK KR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703320"/>
            <a:ext cx="150876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2E8F0"/>
                </a:solidFill>
                <a:latin typeface="Noto Sans CJK KR"/>
              </a:rPr>
              <a:t>certificate payload
MockBlockchain / Registry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3246120"/>
            <a:ext cx="1600200" cy="960120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410712"/>
            <a:ext cx="6400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87171"/>
                </a:solidFill>
                <a:latin typeface="Noto Sans CJK KR"/>
              </a:rPr>
              <a:t>FAIL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703320"/>
            <a:ext cx="10972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2E8F0"/>
                </a:solidFill>
                <a:latin typeface="Noto Sans CJK KR"/>
              </a:rPr>
              <a:t>local-only
SKIP_CHAIN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549640" y="2331720"/>
            <a:ext cx="411480" cy="91440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35440" y="2331720"/>
            <a:ext cx="1463040" cy="91440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" y="4434840"/>
            <a:ext cx="31089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617720"/>
            <a:ext cx="16459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Noto Sans CJK KR"/>
              </a:rPr>
              <a:t>Read-only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19472"/>
            <a:ext cx="2651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Filesystem · Fetch · Git · source chunks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4434840"/>
            <a:ext cx="31089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61772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Noto Sans CJK KR"/>
              </a:rPr>
              <a:t>Memory /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919472"/>
            <a:ext cx="26517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Obsidian wiki · certificates · USAGE_LOG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4434840"/>
            <a:ext cx="30175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617720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8BDF8"/>
                </a:solidFill>
                <a:latin typeface="Noto Sans CJK KR"/>
              </a:rPr>
              <a:t>Action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919472"/>
            <a:ext cx="2468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certifyPage · mock/real WLC payment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Publication Gate: 온체인 기록의 의미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A certificate exists only if the page passes source-grounded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937760" cy="18288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4718304" cy="1664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>
                <a:solidFill>
                  <a:srgbClr val="D1FAE5"/>
                </a:solidFill>
                <a:latin typeface="Consolas"/>
              </a:rPr>
              <a:t>if score_bps &gt;= threshold_bps and not critical_unsupported:
    tx_hash = certifyPage(page_hash, cert_hash, score_bps)
else:
    tx_hash = None
    log('SKIP_CHAIN')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2514600" cy="196596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73352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DE80"/>
                </a:solidFill>
                <a:latin typeface="Noto Sans CJK KR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182880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certificate JSON 생성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page_hash + cert_hash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Mock/real tx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417320"/>
            <a:ext cx="2514600" cy="1965960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673352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87171"/>
                </a:solidFill>
                <a:latin typeface="Noto Sans CJK KR"/>
              </a:rPr>
              <a:t>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48840"/>
            <a:ext cx="182880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local evaluation log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SKIP_CHAIN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tx_hash=None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1056132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70248"/>
            <a:ext cx="1014984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2200" b="1">
                <a:solidFill>
                  <a:srgbClr val="FBBF24"/>
                </a:solidFill>
                <a:latin typeface="Noto Sans CJK KR"/>
              </a:rPr>
              <a:t>Key phrase: </a:t>
            </a:r>
            <a:r>
              <a:rPr sz="2200" b="1">
                <a:solidFill>
                  <a:srgbClr val="FFFFFF"/>
                </a:solidFill>
                <a:latin typeface="Noto Sans CJK KR"/>
              </a:rPr>
              <a:t>“The absence of a certificate is the rejection.”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101498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Noto Sans CJK KR"/>
              </a:rPr>
              <a:t>실패한 page는 reject event조차 온체인에 남기지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5321808"/>
            <a:ext cx="3063240" cy="713232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548640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5504688"/>
            <a:ext cx="2148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WorldLand explorer / real tx screenshot
(optional after WLC integration)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EvalAgent Groundedness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Claim-level verification with basis 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65760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8BDF8"/>
                </a:solidFill>
                <a:latin typeface="Noto Sans CJK KR"/>
              </a:rPr>
              <a:t>Scoring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14630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2140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Noto Sans CJK KR"/>
              </a:rPr>
              <a:t>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21408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Noto Sans CJK KR"/>
              </a:rPr>
              <a:t>근거 충분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14600"/>
            <a:ext cx="14630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14600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Noto Sans CJK KR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14600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Noto Sans CJK KR"/>
              </a:rPr>
              <a:t>부분 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1"/>
            <a:ext cx="14630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UNSUPPORTED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07791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38BDF8"/>
                </a:solidFill>
                <a:latin typeface="Noto Sans CJK KR"/>
              </a:rPr>
              <a:t>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07791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Noto Sans CJK KR"/>
              </a:rPr>
              <a:t>근거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3108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Noto Sans CJK KR"/>
              </a:rPr>
              <a:t>score_bps = average × 10000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417320"/>
            <a:ext cx="6812280" cy="397763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627632"/>
            <a:ext cx="6217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Noto Sans CJK KR"/>
              </a:rPr>
              <a:t>Sample evaluation fixture at threshold_bps = 7800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084831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Noto Sans CJK KR"/>
              </a:rPr>
              <a:t>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84831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Noto Sans CJK KR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84831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Noto Sans CJK KR"/>
              </a:rPr>
              <a:t>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084831"/>
            <a:ext cx="100584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Noto Sans CJK KR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423160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423160"/>
            <a:ext cx="685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BDF8"/>
                </a:solidFill>
                <a:latin typeface="Noto Sans CJK KR"/>
              </a:rPr>
              <a:t>9200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42316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42316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DE80"/>
                </a:solidFill>
                <a:latin typeface="Noto Sans CJK KR"/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807208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good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807208"/>
            <a:ext cx="685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BDF8"/>
                </a:solidFill>
                <a:latin typeface="Noto Sans CJK KR"/>
              </a:rPr>
              <a:t>8700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807208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807208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DE80"/>
                </a:solidFill>
                <a:latin typeface="Noto Sans CJK KR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191256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borderline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191256"/>
            <a:ext cx="685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BDF8"/>
                </a:solidFill>
                <a:latin typeface="Noto Sans CJK KR"/>
              </a:rPr>
              <a:t>8100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191256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False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191256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DE80"/>
                </a:solidFill>
                <a:latin typeface="Noto Sans CJK KR"/>
              </a:rP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575304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partial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575304"/>
            <a:ext cx="685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BDF8"/>
                </a:solidFill>
                <a:latin typeface="Noto Sans CJK KR"/>
              </a:rPr>
              <a:t>7600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575304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False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3575304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87171"/>
                </a:solidFill>
                <a:latin typeface="Noto Sans CJK KR"/>
              </a:rPr>
              <a:t>FAIL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395935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weak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959352"/>
            <a:ext cx="685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BDF8"/>
                </a:solidFill>
                <a:latin typeface="Noto Sans CJK KR"/>
              </a:rPr>
              <a:t>7200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959352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False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3959352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87171"/>
                </a:solidFill>
                <a:latin typeface="Noto Sans CJK KR"/>
              </a:rPr>
              <a:t>FAIL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343400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8F0"/>
                </a:solidFill>
                <a:latin typeface="Noto Sans CJK KR"/>
              </a:rPr>
              <a:t>critical hallucination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343400"/>
            <a:ext cx="68580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BDF8"/>
                </a:solidFill>
                <a:latin typeface="Noto Sans CJK KR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4343400"/>
            <a:ext cx="8229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BBF24"/>
                </a:solidFill>
                <a:latin typeface="Noto Sans CJK KR"/>
              </a:rPr>
              <a:t>True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4343400"/>
            <a:ext cx="7315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87171"/>
                </a:solidFill>
                <a:latin typeface="Noto Sans CJK KR"/>
              </a:rPr>
              <a:t>FAIL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4965192"/>
            <a:ext cx="6080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4A3B8"/>
                </a:solidFill>
                <a:latin typeface="Noto Sans CJK KR"/>
              </a:rPr>
              <a:t>Gate behavior는 fixture로, large batch는 scalability evidence로 설명합니다.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Cross-linking: 후보 생성과 최종 채택을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Cosine similarity is candidate generation only.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01752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8BDF8"/>
                </a:solidFill>
                <a:latin typeface="Noto Sans CJK KR"/>
              </a:rPr>
              <a:t>TF-IDF / Cosine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Noto Sans CJK KR"/>
              </a:rPr>
              <a:t>candidate links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01752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6420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BBF24"/>
                </a:solidFill>
                <a:latin typeface="Noto Sans CJK KR"/>
              </a:rPr>
              <a:t>EvalAgent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084831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Noto Sans CJK KR"/>
              </a:rPr>
              <a:t>accept / reject with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01752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64208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Noto Sans CJK KR"/>
              </a:rPr>
              <a:t>Obsidian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84831"/>
            <a:ext cx="25603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Noto Sans CJK KR"/>
              </a:rPr>
              <a:t>accepted links only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057400"/>
            <a:ext cx="5943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2057400"/>
            <a:ext cx="54863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246120"/>
            <a:ext cx="4937760" cy="1417320"/>
          </a:xfrm>
          <a:prstGeom prst="roundRect">
            <a:avLst/>
          </a:prstGeom>
          <a:solidFill>
            <a:srgbClr val="052E1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56432"/>
            <a:ext cx="19202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Noto Sans CJK KR"/>
              </a:rPr>
              <a:t>ACCEPT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4343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8F0"/>
                </a:solidFill>
                <a:latin typeface="Noto Sans CJK KR"/>
              </a:rPr>
              <a:t>State Transition → Gas
Reason: source evidence shows transaction execution consumes gas.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46120"/>
            <a:ext cx="4937760" cy="1417320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56432"/>
            <a:ext cx="19202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Noto Sans CJK KR"/>
              </a:rPr>
              <a:t>REJECT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22191"/>
            <a:ext cx="4343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8F0"/>
                </a:solidFill>
                <a:latin typeface="Noto Sans CJK KR"/>
              </a:rPr>
              <a:t>State Transition → Polymarket
Reason: semantic similarity but no source-backed relation.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12080"/>
            <a:ext cx="10378440" cy="7315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7667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🕸️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394960"/>
            <a:ext cx="9464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Obsidian graph / generated wiki page screenshot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Latest Demo Run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Reproducible mock mode for presentation.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53312"/>
            <a:ext cx="10698480" cy="658368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44752"/>
            <a:ext cx="10479024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D1FAE5"/>
                </a:solidFill>
                <a:latin typeface="Consolas"/>
              </a:rPr>
              <a:t>python demo/demo_pipeline.py --threshold-bps 7800 --llm-provider mock --mock-chain --mock-payment --append-usage-log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31546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38BDF8"/>
                </a:solidFill>
                <a:latin typeface="Noto Sans CJK KR"/>
              </a:rPr>
              <a:t>109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 CJK KR"/>
              </a:rPr>
              <a:t>source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423160"/>
            <a:ext cx="31546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560320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38BDF8"/>
                </a:solidFill>
                <a:latin typeface="Noto Sans CJK KR"/>
              </a:rPr>
              <a:t>1328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92608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 CJK KR"/>
              </a:rPr>
              <a:t>chunks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423160"/>
            <a:ext cx="31546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560320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38BDF8"/>
                </a:solidFill>
                <a:latin typeface="Noto Sans CJK KR"/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92608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 CJK KR"/>
              </a:rPr>
              <a:t>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31546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DE80"/>
                </a:solidFill>
                <a:latin typeface="Noto Sans CJK KR"/>
              </a:rPr>
              <a:t>109 /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 CJK KR"/>
              </a:rPr>
              <a:t>PASS / FAIL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657600"/>
            <a:ext cx="31546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794760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DE80"/>
                </a:solidFill>
                <a:latin typeface="Noto Sans CJK KR"/>
              </a:rPr>
              <a:t>109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16052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 CJK KR"/>
              </a:rPr>
              <a:t>mock certs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657600"/>
            <a:ext cx="31546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3794760"/>
            <a:ext cx="2971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BBF24"/>
                </a:solidFill>
                <a:latin typeface="Noto Sans CJK KR"/>
              </a:rPr>
              <a:t>545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16052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 CJK KR"/>
              </a:rPr>
              <a:t>mock payments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10652760" cy="777240"/>
          </a:xfrm>
          <a:prstGeom prst="roundRect">
            <a:avLst/>
          </a:prstGeom>
          <a:solidFill>
            <a:srgbClr val="452E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230368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Noto Sans CJK KR"/>
              </a:rPr>
              <a:t>Important framing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230368"/>
            <a:ext cx="818387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Noto Sans CJK KR"/>
              </a:rPr>
              <a:t>Large batch는 scalability/practicality evidence입니다. Publication gate behavior는 sample fixture와 FAIL evidence로 설명합니다.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PASS vs FAIL Evidence in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The key professor-feedback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394960" cy="4160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Noto Sans CJK KR"/>
              </a:rPr>
              <a:t>PASS → CERTIFIED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148840"/>
            <a:ext cx="4846320" cy="86868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40280"/>
            <a:ext cx="462686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D1FAE5"/>
                </a:solidFill>
                <a:latin typeface="Consolas"/>
              </a:rPr>
              <a:t>CERTIFIED | 0xmock_cert_da5400... | 3D Diffuser Actor | score_bps=10000 threshold_bps=7800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572000" cy="10972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evaluation certificate exists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mock certificate tx exists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WorldLand interface can be swapped to real mode later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166360" cy="4160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2763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7171"/>
                </a:solidFill>
                <a:latin typeface="Noto Sans CJK KR"/>
              </a:rPr>
              <a:t>FAIL → LOCAL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148840"/>
            <a:ext cx="4617720" cy="105156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240280"/>
            <a:ext cx="4398264" cy="8869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>
                <a:solidFill>
                  <a:srgbClr val="D1FAE5"/>
                </a:solidFill>
                <a:latin typeface="Consolas"/>
              </a:rPr>
              <a:t>SKIP_CHAIN | tx_hash=None | Hallucinated Failure Fixture | score_bps=0 threshold_bps=7800 critical=True
FAIL_LOCAL_ONLY | ... | chain_action=SKIP_CHAIN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429000"/>
            <a:ext cx="4389120" cy="9144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blockchain call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mock certificate event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absence of certificate = rejection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Threshold Trade-off: Quality Gate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Fixture-based sensitivity 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7406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reshol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31619"/>
            <a:ext cx="704088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66760" y="1417320"/>
            <a:ext cx="301752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6916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8BDF8"/>
                </a:solidFill>
                <a:latin typeface="Noto Sans CJK KR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148840"/>
            <a:ext cx="2423160" cy="21945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threshold가 올라가면 certified sample pages가 감소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unsupported accepted rate가 40% → 0%로 감소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large batch는 mock evaluator 특성상 대부분 10000점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따라서 gate 민감도는 fixture로 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5010912"/>
            <a:ext cx="2560320" cy="292608"/>
          </a:xfrm>
          <a:prstGeom prst="roundRect">
            <a:avLst/>
          </a:prstGeom>
          <a:solidFill>
            <a:srgbClr val="052E16"/>
          </a:solidFill>
          <a:ln w="952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ADE80"/>
                </a:solidFill>
                <a:latin typeface="Noto Sans CJK KR"/>
              </a:rPr>
              <a:t>At threshold 7800: sample 3 PASS / 3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PayAgent: Accepted Finding Reward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Reward is paid per accepted EvalAgent finding, not per passed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7665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799"/>
            <a:ext cx="640080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325880"/>
            <a:ext cx="3657600" cy="4251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BBF24"/>
                </a:solidFill>
                <a:latin typeface="Noto Sans CJK KR"/>
              </a:rPr>
              <a:t>Reward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103120"/>
            <a:ext cx="2971800" cy="1508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no_reward_baseline: 0 payments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accepted_finding_rewards: 545 mock payments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total mock WLC: 5.45</a:t>
            </a:r>
          </a:p>
          <a:p>
            <a:pPr>
              <a:buChar char="•"/>
              <a:spcAft>
                <a:spcPts val="600"/>
              </a:spcAft>
              <a:defRPr sz="1250">
                <a:solidFill>
                  <a:srgbClr val="E2E8F0"/>
                </a:solidFill>
                <a:latin typeface="Noto Sans CJK KR"/>
              </a:defRPr>
            </a:pPr>
            <a:r>
              <a:t>이 그래프는 quality improvement 증거가 아니라 payment flow 증거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977639"/>
            <a:ext cx="2971800" cy="566928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4069079"/>
            <a:ext cx="2752344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>
                <a:solidFill>
                  <a:srgbClr val="D1FAE5"/>
                </a:solidFill>
                <a:latin typeface="Consolas"/>
              </a:rPr>
              <a:t>0xmock_pay_... | finding=f_... | amount_wlc=0.01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800600"/>
            <a:ext cx="28803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87171"/>
                </a:solidFill>
                <a:latin typeface="Noto Sans CJK KR"/>
              </a:rPr>
              <a:t>실제 WLC payment는 아직 없습니다.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WorldLand / WLC Integration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Mock mode today; real tx can be added after WLC and wallet setup.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65760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8BDF8"/>
                </a:solidFill>
                <a:latin typeface="Noto Sans CJK KR"/>
              </a:rPr>
              <a:t>What goes on-chain?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3017520" cy="18288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page_hash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cert_hash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score_bps / threshold_bps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page_id / evaluator / timestamp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full paper text or private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52044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9164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BBF24"/>
                </a:solidFill>
                <a:latin typeface="Noto Sans CJK KR"/>
              </a:rPr>
              <a:t>WLC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94560"/>
            <a:ext cx="292608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contract deploy gas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certifyPage tx gas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accepted finding reward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retry / demo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34340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BBF24"/>
                </a:solidFill>
                <a:latin typeface="Noto Sans CJK KR"/>
              </a:rPr>
              <a:t>Recommended request: 50 WLC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063240" cy="4023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691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87171"/>
                </a:solidFill>
                <a:latin typeface="Noto Sans CJK KR"/>
              </a:rPr>
              <a:t>Current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94560"/>
            <a:ext cx="2468880" cy="1645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20">
                <a:solidFill>
                  <a:srgbClr val="E2E8F0"/>
                </a:solidFill>
                <a:latin typeface="Noto Sans CJK KR"/>
              </a:defRPr>
            </a:pPr>
            <a:r>
              <a:t>real WorldLand tx: none</a:t>
            </a:r>
          </a:p>
          <a:p>
            <a:pPr>
              <a:buChar char="•"/>
              <a:spcAft>
                <a:spcPts val="600"/>
              </a:spcAft>
              <a:defRPr sz="1320">
                <a:solidFill>
                  <a:srgbClr val="E2E8F0"/>
                </a:solidFill>
                <a:latin typeface="Noto Sans CJK KR"/>
              </a:defRPr>
            </a:pPr>
            <a:r>
              <a:t>real WLC payment: none</a:t>
            </a:r>
          </a:p>
          <a:p>
            <a:pPr>
              <a:buChar char="•"/>
              <a:spcAft>
                <a:spcPts val="600"/>
              </a:spcAft>
              <a:defRPr sz="1320">
                <a:solidFill>
                  <a:srgbClr val="E2E8F0"/>
                </a:solidFill>
                <a:latin typeface="Noto Sans CJK KR"/>
              </a:defRPr>
            </a:pPr>
            <a:r>
              <a:t>MOCK_CHAIN / MOCK_PAYMENT</a:t>
            </a:r>
          </a:p>
          <a:p>
            <a:pPr>
              <a:buChar char="•"/>
              <a:spcAft>
                <a:spcPts val="600"/>
              </a:spcAft>
              <a:defRPr sz="1320">
                <a:solidFill>
                  <a:srgbClr val="E2E8F0"/>
                </a:solidFill>
                <a:latin typeface="Noto Sans CJK KR"/>
              </a:defRPr>
            </a:pPr>
            <a:r>
              <a:t>mock prefixes: 0xmock_cert_, 0xmock_pay_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4663440"/>
            <a:ext cx="2377440" cy="292608"/>
          </a:xfrm>
          <a:prstGeom prst="roundRect">
            <a:avLst/>
          </a:prstGeom>
          <a:solidFill>
            <a:srgbClr val="450A0A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F87171"/>
                </a:solidFill>
                <a:latin typeface="Noto Sans CJK KR"/>
              </a:rPr>
              <a:t>Do not present mock tx as real tx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Privacy &amp; Security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Local content, minimal on-chain metadata, explicit approval for risky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91840" cy="3611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ADE80"/>
                </a:solidFill>
                <a:latin typeface="Noto Sans CJK KR"/>
              </a:rPr>
              <a:t>Privacy 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743200" cy="1737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PDFs and wiki content stay local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Only hashes/cert metadata on-chain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private notes on WorldLand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291840" cy="3611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8308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BBF24"/>
                </a:solidFill>
                <a:latin typeface="Noto Sans CJK KR"/>
              </a:rPr>
              <a:t>Secret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2743200" cy="1737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.env committed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Private keys only from env vars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Never print wallet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08760"/>
            <a:ext cx="3291840" cy="3611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87171"/>
                </a:solidFill>
                <a:latin typeface="Noto Sans CJK KR"/>
              </a:rPr>
              <a:t>Threat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331720"/>
            <a:ext cx="2743200" cy="1737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FAIL → SKIP_CHAIN only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Mock tx prefixes separate reality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Real payment blocked without confirmation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440680"/>
            <a:ext cx="9966960" cy="50292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57784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Noto Sans CJK KR"/>
              </a:rPr>
              <a:t>Security takeaway: certificate registry proves a page version passed verification without exposing source content.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사진 / 영상 삽입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Blank placeholders for screenshots or demo video.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00200"/>
            <a:ext cx="2514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Terminal demo output
python demo/demo_pipeline.py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58191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1600200"/>
            <a:ext cx="2514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Obsidian vault graph
or generated wiki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8191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600200"/>
            <a:ext cx="2514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Evaluation certificate JSON
claim checks + score_bps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342900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3639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80"/>
            <a:ext cx="2514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CERTIFICATE_LOG.md
CERTIFIED + SKIP_CHAIN 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971800"/>
            <a:ext cx="342900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313639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3154680"/>
            <a:ext cx="2514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PAYMENT_LOG.md
accepted finding mock reward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971800"/>
            <a:ext cx="3429000" cy="1143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13639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94A3B8"/>
                </a:solidFill>
                <a:latin typeface="Noto Sans CJK KR"/>
              </a:rPr>
              <a:t>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154680"/>
            <a:ext cx="2514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4A3B8"/>
                </a:solidFill>
                <a:latin typeface="Noto Sans CJK KR"/>
              </a:rPr>
              <a:t>Demo video thumbnail
≤ 5 min screen capture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892040"/>
            <a:ext cx="1014984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138928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Noto Sans CJK KR"/>
              </a:rPr>
              <a:t>Tip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138928"/>
            <a:ext cx="89611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8F0"/>
                </a:solidFill>
                <a:latin typeface="Noto Sans CJK KR"/>
              </a:rPr>
              <a:t>실제 WorldLand explorer screenshot은 WLC 수령 후 real tx가 생겼을 때만 추가합니다. 현재 발표에서는 “real tx 없음”을 명확히 표시합니다.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8778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Limitations &amp; 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50392"/>
            <a:ext cx="9418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Honest boundaries and next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965960" cy="32004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38BDF8"/>
                </a:solidFill>
                <a:latin typeface="Noto Sans CJK KR"/>
              </a:rPr>
              <a:t>Blockchain Agent · Mock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74920" cy="4160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87171"/>
                </a:solidFill>
                <a:latin typeface="Noto Sans CJK KR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434840" cy="21488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Mock evaluator: not full LLM claim verification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real WorldLand tx yet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No real WLC payment yet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Reward graph shows payment flow, not proven quality improvement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Large batch scores are optimistic under mock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4160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DE80"/>
                </a:solidFill>
                <a:latin typeface="Noto Sans CJK KR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434840" cy="1783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Add Ollama/OpenAI EvalAgent mode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Deploy PageCertificateRegistry on WorldLand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Use WLC for deploy + certifyPage + accepted finding rewards</a:t>
            </a:r>
          </a:p>
          <a:p>
            <a:pPr>
              <a:buChar char="•"/>
              <a:spcAft>
                <a:spcPts val="600"/>
              </a:spcAft>
              <a:defRPr sz="1350">
                <a:solidFill>
                  <a:srgbClr val="E2E8F0"/>
                </a:solidFill>
                <a:latin typeface="Noto Sans CJK KR"/>
              </a:defRPr>
            </a:pPr>
            <a:r>
              <a:t>Add block explorer proof and read-only tx receipt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715000"/>
            <a:ext cx="9966960" cy="502920"/>
          </a:xfrm>
          <a:prstGeom prst="roundRect">
            <a:avLst/>
          </a:prstGeom>
          <a:solidFill>
            <a:srgbClr val="082F4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852160"/>
            <a:ext cx="96926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Final takeaway: WorldLand is not a passive hash log. It is a publication certificate registry.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27648"/>
            <a:ext cx="1106424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19088"/>
            <a:ext cx="54864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WorldLand Knowledge Wiki Agent · Cheon Seungyeon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419088"/>
            <a:ext cx="2743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BBF24"/>
                </a:solidFill>
                <a:latin typeface="Noto Sans CJK KR"/>
              </a:rPr>
              <a:t>Current mode: MOCK_CHAIN / MOCK_PAYMENT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45720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4A3B8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